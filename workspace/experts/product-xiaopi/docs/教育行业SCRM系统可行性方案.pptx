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教育行业SCRM系统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可行性方案 | 产品专家小皮 | 2026-03-23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【项目背景】</a:t>
            </a:r>
          </a:p>
          <a:p>
            <a:pPr>
              <a:spcAft>
                <a:spcPts val="1000"/>
              </a:spcAft>
              <a:defRPr sz="2000"/>
            </a:pPr>
            <a:r>
              <a:t>• K12教育市场6000亿+，竞争激烈，获客成本不断上升</a:t>
            </a:r>
          </a:p>
          <a:p>
            <a:pPr>
              <a:spcAft>
                <a:spcPts val="1000"/>
              </a:spcAft>
              <a:defRPr sz="2000"/>
            </a:pPr>
            <a:r>
              <a:t>• 传统获客方式（地推/会销/百度）成本高、转化低</a:t>
            </a:r>
          </a:p>
          <a:p>
            <a:pPr>
              <a:spcAft>
                <a:spcPts val="1000"/>
              </a:spcAft>
              <a:defRPr sz="2000"/>
            </a:pPr>
            <a:r>
              <a:t>• 私域运营成为教育机构突破获客困境的核心手段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【核心问题】</a:t>
            </a:r>
          </a:p>
          <a:p>
            <a:pPr>
              <a:spcAft>
                <a:spcPts val="1000"/>
              </a:spcAft>
              <a:defRPr sz="2000"/>
            </a:pPr>
            <a:r>
              <a:t>• 市面无专门针对K12+全日制教育的SCRM产品</a:t>
            </a:r>
          </a:p>
          <a:p>
            <a:pPr>
              <a:spcAft>
                <a:spcPts val="1000"/>
              </a:spcAft>
              <a:defRPr sz="2000"/>
            </a:pPr>
            <a:r>
              <a:t>• 现有产品要么太通用、要么太垂直，无法满足需求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【解决方案】</a:t>
            </a:r>
          </a:p>
          <a:p>
            <a:pPr>
              <a:spcAft>
                <a:spcPts val="1000"/>
              </a:spcAft>
              <a:defRPr sz="2000"/>
            </a:pPr>
            <a:r>
              <a:t>• 自建教育行业SCRM：营销+销售+服务+教务一体化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【产品名称】（待定）教育SCRM系统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【产品定位】</a:t>
            </a:r>
          </a:p>
          <a:p>
            <a:pPr>
              <a:spcAft>
                <a:spcPts val="1000"/>
              </a:spcAft>
              <a:defRPr sz="2000"/>
            </a:pPr>
            <a:r>
              <a:t>• 专注K12+全日制教育机构的私域运营平台</a:t>
            </a:r>
          </a:p>
          <a:p>
            <a:pPr>
              <a:spcAft>
                <a:spcPts val="1000"/>
              </a:spcAft>
              <a:defRPr sz="2000"/>
            </a:pPr>
            <a:r>
              <a:t>• 连接招生营销、服务运营、教务管理全链路</a:t>
            </a:r>
          </a:p>
          <a:p>
            <a:pPr>
              <a:spcAft>
                <a:spcPts val="1000"/>
              </a:spcAft>
              <a:defRPr sz="2000"/>
            </a:pPr>
            <a:r>
              <a:t>• 打通企微生态，实现家校互通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【差异化价值】</a:t>
            </a:r>
          </a:p>
          <a:p>
            <a:pPr>
              <a:spcAft>
                <a:spcPts val="1000"/>
              </a:spcAft>
              <a:defRPr sz="2000"/>
            </a:pPr>
            <a:r>
              <a:t>• 不是通用SCRM，而是教育行业深度定制</a:t>
            </a:r>
          </a:p>
          <a:p>
            <a:pPr>
              <a:spcAft>
                <a:spcPts val="1000"/>
              </a:spcAft>
              <a:defRPr sz="2000"/>
            </a:pPr>
            <a:r>
              <a:t>• 不是传统教务系统，而是私域运营+教务一体化</a:t>
            </a:r>
          </a:p>
          <a:p>
            <a:pPr>
              <a:spcAft>
                <a:spcPts val="1000"/>
              </a:spcAft>
              <a:defRPr sz="2000"/>
            </a:pPr>
            <a:r>
              <a:t>• 不是工具，而是解决方案（产品+服务+运营）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三、目标客户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【主要目标客户】</a:t>
            </a:r>
          </a:p>
          <a:p>
            <a:pPr>
              <a:spcAft>
                <a:spcPts val="1000"/>
              </a:spcAft>
              <a:defRPr sz="2000"/>
            </a:pPr>
            <a:r>
              <a:t>• K12教培机构（年营收100-1000万）</a:t>
            </a:r>
          </a:p>
          <a:p>
            <a:pPr>
              <a:spcAft>
                <a:spcPts val="1000"/>
              </a:spcAft>
              <a:defRPr sz="2000"/>
            </a:pPr>
            <a:r>
              <a:t>• 素质教育机构（艺术/体育/编程）</a:t>
            </a:r>
          </a:p>
          <a:p>
            <a:pPr>
              <a:spcAft>
                <a:spcPts val="1000"/>
              </a:spcAft>
              <a:defRPr sz="2000"/>
            </a:pPr>
            <a:r>
              <a:t>• 全日制学校（中小学）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【客户痛点】</a:t>
            </a:r>
          </a:p>
          <a:p>
            <a:pPr>
              <a:spcAft>
                <a:spcPts val="1000"/>
              </a:spcAft>
              <a:defRPr sz="2000"/>
            </a:pPr>
            <a:r>
              <a:t>• 招生成本高：单客获取成本500-2000元</a:t>
            </a:r>
          </a:p>
          <a:p>
            <a:pPr>
              <a:spcAft>
                <a:spcPts val="1000"/>
              </a:spcAft>
              <a:defRPr sz="2000"/>
            </a:pPr>
            <a:r>
              <a:t>• 家长决策周期长：咨询到报名15-30天</a:t>
            </a:r>
          </a:p>
          <a:p>
            <a:pPr>
              <a:spcAft>
                <a:spcPts val="1000"/>
              </a:spcAft>
              <a:defRPr sz="2000"/>
            </a:pPr>
            <a:r>
              <a:t>• 服务难跟进：学员多、家长多、老师精力有限</a:t>
            </a:r>
          </a:p>
          <a:p>
            <a:pPr>
              <a:spcAft>
                <a:spcPts val="1000"/>
              </a:spcAft>
              <a:defRPr sz="2000"/>
            </a:pPr>
            <a:r>
              <a:t>• 数据分散：线索、跟进、上课数据割裂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【付费意愿】</a:t>
            </a:r>
          </a:p>
          <a:p>
            <a:pPr>
              <a:spcAft>
                <a:spcPts val="1000"/>
              </a:spcAft>
              <a:defRPr sz="2000"/>
            </a:pPr>
            <a:r>
              <a:t>• 年费5000-30000元可接受</a:t>
            </a:r>
          </a:p>
          <a:p>
            <a:pPr>
              <a:spcAft>
                <a:spcPts val="1000"/>
              </a:spcAft>
              <a:defRPr sz="2000"/>
            </a:pPr>
            <a:r>
              <a:t>• 愿意为效果付费，不愿为大而全的功能付费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四、核心功能模块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功能列表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解决问题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营销获客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活码/裂变海报/优惠券/体验课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降低获客成本60%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客户管理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线索池/标签/画像/生命周期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统一管理客户数据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销售跟进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跟进记录/商机/转化漏斗/SOP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缩短转化周期50%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服务运营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课后反馈/成长档案/续费提醒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提升续费率30%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教务管理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排课/签到/考勤/成绩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提升运营效率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数据分析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流量/转化/留存/ROI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数据驱动决策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五、系统架构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【前端架构】</a:t>
            </a:r>
          </a:p>
          <a:p>
            <a:pPr>
              <a:spcAft>
                <a:spcPts val="1000"/>
              </a:spcAft>
              <a:defRPr sz="2000"/>
            </a:pPr>
            <a:r>
              <a:t>• Web管理端：React + Ant Design</a:t>
            </a:r>
          </a:p>
          <a:p>
            <a:pPr>
              <a:spcAft>
                <a:spcPts val="1000"/>
              </a:spcAft>
              <a:defRPr sz="2000"/>
            </a:pPr>
            <a:r>
              <a:t>• 移动端H5：Vue + Vant</a:t>
            </a:r>
          </a:p>
          <a:p>
            <a:pPr>
              <a:spcAft>
                <a:spcPts val="1000"/>
              </a:spcAft>
              <a:defRPr sz="2000"/>
            </a:pPr>
            <a:r>
              <a:t>• 小程序：微信小程序 + 企微小程序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【后端架构】</a:t>
            </a:r>
          </a:p>
          <a:p>
            <a:pPr>
              <a:spcAft>
                <a:spcPts val="1000"/>
              </a:spcAft>
              <a:defRPr sz="2000"/>
            </a:pPr>
            <a:r>
              <a:t>• 核心服务：Node.js/Go + 微服务</a:t>
            </a:r>
          </a:p>
          <a:p>
            <a:pPr>
              <a:spcAft>
                <a:spcPts val="1000"/>
              </a:spcAft>
              <a:defRPr sz="2000"/>
            </a:pPr>
            <a:r>
              <a:t>• 网关：Kong/Nginx</a:t>
            </a:r>
          </a:p>
          <a:p>
            <a:pPr>
              <a:spcAft>
                <a:spcPts val="1000"/>
              </a:spcAft>
              <a:defRPr sz="2000"/>
            </a:pPr>
            <a:r>
              <a:t>• 消息队列：RabbitMQ/RocketMQ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【数据层】</a:t>
            </a:r>
          </a:p>
          <a:p>
            <a:pPr>
              <a:spcAft>
                <a:spcPts val="1000"/>
              </a:spcAft>
              <a:defRPr sz="2000"/>
            </a:pPr>
            <a:r>
              <a:t>• 关系型：MySQL（分库分表）</a:t>
            </a:r>
          </a:p>
          <a:p>
            <a:pPr>
              <a:spcAft>
                <a:spcPts val="1000"/>
              </a:spcAft>
              <a:defRPr sz="2000"/>
            </a:pPr>
            <a:r>
              <a:t>• 缓存：Redis Cluster</a:t>
            </a:r>
          </a:p>
          <a:p>
            <a:pPr>
              <a:spcAft>
                <a:spcPts val="1000"/>
              </a:spcAft>
              <a:defRPr sz="2000"/>
            </a:pPr>
            <a:r>
              <a:t>• 分析库：ClickHouse</a:t>
            </a:r>
          </a:p>
          <a:p>
            <a:pPr>
              <a:spcAft>
                <a:spcPts val="1000"/>
              </a:spcAft>
              <a:defRPr sz="2000"/>
            </a:pPr>
            <a:r>
              <a:t>• 文件存储：OSS/MinIO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六、性能目标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【数据存储】</a:t>
            </a:r>
          </a:p>
          <a:p>
            <a:pPr>
              <a:spcAft>
                <a:spcPts val="1000"/>
              </a:spcAft>
              <a:defRPr sz="2000"/>
            </a:pPr>
            <a:r>
              <a:t>• 支持10亿级客户数据存储</a:t>
            </a:r>
          </a:p>
          <a:p>
            <a:pPr>
              <a:spcAft>
                <a:spcPts val="1000"/>
              </a:spcAft>
              <a:defRPr sz="2000"/>
            </a:pPr>
            <a:r>
              <a:t>• 分库分表 + 冷热分离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【并发能力】</a:t>
            </a:r>
          </a:p>
          <a:p>
            <a:pPr>
              <a:spcAft>
                <a:spcPts val="1000"/>
              </a:spcAft>
              <a:defRPr sz="2000"/>
            </a:pPr>
            <a:r>
              <a:t>• 支持百万级同时在线</a:t>
            </a:r>
          </a:p>
          <a:p>
            <a:pPr>
              <a:spcAft>
                <a:spcPts val="1000"/>
              </a:spcAft>
              <a:defRPr sz="2000"/>
            </a:pPr>
            <a:r>
              <a:t>• CDN加速 + 负载均衡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【响应速度】</a:t>
            </a:r>
          </a:p>
          <a:p>
            <a:pPr>
              <a:spcAft>
                <a:spcPts val="1000"/>
              </a:spcAft>
              <a:defRPr sz="2000"/>
            </a:pPr>
            <a:r>
              <a:t>• API响应 &lt; 200ms</a:t>
            </a:r>
          </a:p>
          <a:p>
            <a:pPr>
              <a:spcAft>
                <a:spcPts val="1000"/>
              </a:spcAft>
              <a:defRPr sz="2000"/>
            </a:pPr>
            <a:r>
              <a:t>• 页面加载 &lt; 3秒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【可用性】</a:t>
            </a:r>
          </a:p>
          <a:p>
            <a:pPr>
              <a:spcAft>
                <a:spcPts val="1000"/>
              </a:spcAft>
              <a:defRPr sz="2000"/>
            </a:pPr>
            <a:r>
              <a:t>• 99.9% 服务可用性</a:t>
            </a:r>
          </a:p>
          <a:p>
            <a:pPr>
              <a:spcAft>
                <a:spcPts val="1000"/>
              </a:spcAft>
              <a:defRPr sz="2000"/>
            </a:pPr>
            <a:r>
              <a:t>• 多机房容灾 + 自动切换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七、核心模块详解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【1. 营销获客中心】</a:t>
            </a:r>
          </a:p>
          <a:p>
            <a:pPr>
              <a:spcAft>
                <a:spcPts val="1000"/>
              </a:spcAft>
              <a:defRPr sz="2000"/>
            </a:pPr>
            <a:r>
              <a:t>• 活码系统：自动分配、标签同步、统计追踪</a:t>
            </a:r>
          </a:p>
          <a:p>
            <a:pPr>
              <a:spcAft>
                <a:spcPts val="1000"/>
              </a:spcAft>
              <a:defRPr sz="2000"/>
            </a:pPr>
            <a:r>
              <a:t>• 裂变系统：海报生成、奖励规则、邀请追踪</a:t>
            </a:r>
          </a:p>
          <a:p>
            <a:pPr>
              <a:spcAft>
                <a:spcPts val="1000"/>
              </a:spcAft>
              <a:defRPr sz="2000"/>
            </a:pPr>
            <a:r>
              <a:t>• 优惠券系统：满减/折扣/新人券、自动化发放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【2. 客户运营中心】</a:t>
            </a:r>
          </a:p>
          <a:p>
            <a:pPr>
              <a:spcAft>
                <a:spcPts val="1000"/>
              </a:spcAft>
              <a:defRPr sz="2000"/>
            </a:pPr>
            <a:r>
              <a:t>• 客户池：统一线索管理、自动分配、领取机制</a:t>
            </a:r>
          </a:p>
          <a:p>
            <a:pPr>
              <a:spcAft>
                <a:spcPts val="1000"/>
              </a:spcAft>
              <a:defRPr sz="2000"/>
            </a:pPr>
            <a:r>
              <a:t>• 标签系统：手动+自动、行为触发、精准分层</a:t>
            </a:r>
          </a:p>
          <a:p>
            <a:pPr>
              <a:spcAft>
                <a:spcPts val="1000"/>
              </a:spcAft>
              <a:defRPr sz="2000"/>
            </a:pPr>
            <a:r>
              <a:t>• SOP系统：生命周期自动化推送、节点触发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八、核心模块详解（续）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【3. 服务运营中心】</a:t>
            </a:r>
          </a:p>
          <a:p>
            <a:pPr>
              <a:spcAft>
                <a:spcPts val="1000"/>
              </a:spcAft>
              <a:defRPr sz="2000"/>
            </a:pPr>
            <a:r>
              <a:t>• 课后反馈：上课提醒、课后作业、老师点评</a:t>
            </a:r>
          </a:p>
          <a:p>
            <a:pPr>
              <a:spcAft>
                <a:spcPts val="1000"/>
              </a:spcAft>
              <a:defRPr sz="2000"/>
            </a:pPr>
            <a:r>
              <a:t>• 成长档案：成绩记录、能力雷达图、成长轨迹</a:t>
            </a:r>
          </a:p>
          <a:p>
            <a:pPr>
              <a:spcAft>
                <a:spcPts val="1000"/>
              </a:spcAft>
              <a:defRPr sz="2000"/>
            </a:pPr>
            <a:r>
              <a:t>• 续费管理：提前预警、优惠触发、1v1触达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【4. 教务管理中心】</a:t>
            </a:r>
          </a:p>
          <a:p>
            <a:pPr>
              <a:spcAft>
                <a:spcPts val="1000"/>
              </a:spcAft>
              <a:defRPr sz="2000"/>
            </a:pPr>
            <a:r>
              <a:t>• 排课管理：时间冲突检测、老师/教室调度</a:t>
            </a:r>
          </a:p>
          <a:p>
            <a:pPr>
              <a:spcAft>
                <a:spcPts val="1000"/>
              </a:spcAft>
              <a:defRPr sz="2000"/>
            </a:pPr>
            <a:r>
              <a:t>• 签到考勤：人脸识别/二维码签到、异常提醒</a:t>
            </a:r>
          </a:p>
          <a:p>
            <a:pPr>
              <a:spcAft>
                <a:spcPts val="1000"/>
              </a:spcAft>
              <a:defRPr sz="2000"/>
            </a:pPr>
            <a:r>
              <a:t>• 成绩管理：单元测/期中/期末、报表分析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九、实施路径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【Phase 1：MVP阶段（2个月）】</a:t>
            </a:r>
          </a:p>
          <a:p>
            <a:pPr>
              <a:spcAft>
                <a:spcPts val="1000"/>
              </a:spcAft>
              <a:defRPr sz="2000"/>
            </a:pPr>
            <a:r>
              <a:t>• 核心功能：活码 + 线索管理 + 跟进SOP</a:t>
            </a:r>
          </a:p>
          <a:p>
            <a:pPr>
              <a:spcAft>
                <a:spcPts val="1000"/>
              </a:spcAft>
              <a:defRPr sz="2000"/>
            </a:pPr>
            <a:r>
              <a:t>• 目标：跑通最小闭环，验证核心价值</a:t>
            </a:r>
          </a:p>
          <a:p>
            <a:pPr>
              <a:spcAft>
                <a:spcPts val="1000"/>
              </a:spcAft>
              <a:defRPr sz="2000"/>
            </a:pPr>
            <a:r>
              <a:t>• 成本：20-30万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【Phase 2：功能完善（2个月）】</a:t>
            </a:r>
          </a:p>
          <a:p>
            <a:pPr>
              <a:spcAft>
                <a:spcPts val="1000"/>
              </a:spcAft>
              <a:defRPr sz="2000"/>
            </a:pPr>
            <a:r>
              <a:t>• 核心功能：裂变 + 优惠券 + 数据分析</a:t>
            </a:r>
          </a:p>
          <a:p>
            <a:pPr>
              <a:spcAft>
                <a:spcPts val="1000"/>
              </a:spcAft>
              <a:defRPr sz="2000"/>
            </a:pPr>
            <a:r>
              <a:t>• 目标：功能完整度达到80%</a:t>
            </a:r>
          </a:p>
          <a:p>
            <a:pPr>
              <a:spcAft>
                <a:spcPts val="1000"/>
              </a:spcAft>
              <a:defRPr sz="2000"/>
            </a:pPr>
            <a:r>
              <a:t>• 成本：30-50万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【Phase 3：生态扩展（持续）】</a:t>
            </a:r>
          </a:p>
          <a:p>
            <a:pPr>
              <a:spcAft>
                <a:spcPts val="1000"/>
              </a:spcAft>
              <a:defRPr sz="2000"/>
            </a:pPr>
            <a:r>
              <a:t>• 核心功能：教务管理 + 家校互通 + 第三方集成</a:t>
            </a:r>
          </a:p>
          <a:p>
            <a:pPr>
              <a:spcAft>
                <a:spcPts val="1000"/>
              </a:spcAft>
              <a:defRPr sz="2000"/>
            </a:pPr>
            <a:r>
              <a:t>• 目标：形成竞争壁垒</a:t>
            </a:r>
          </a:p>
          <a:p>
            <a:pPr>
              <a:spcAft>
                <a:spcPts val="1000"/>
              </a:spcAft>
              <a:defRPr sz="2000"/>
            </a:pPr>
            <a:r>
              <a:t>• 成本：持续迭代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十、团队配置建议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人数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周期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产品经理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需求分析、产品设计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全程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UI设计师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界面设计、交互设计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2-3月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前端开发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2-3人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Web + 小程序开发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持续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后端开发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2-3人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服务端开发、架构设计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持续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测试工程师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功能测试、性能测试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1月+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运维工程师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部署、监控、运维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全程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十一、预算估算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费用项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金额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MVP开发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20-30万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Phase 1 + Phase 2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服务器/云服务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3-5万/年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按需扩展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第三方服务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1-2万/年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短信/推送/存储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维护迭代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10-20万/年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持续优化+新功能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运营支持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5-10万/年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客户成功服务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总计（首年）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40-70万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含开发+运维+运营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十二、商业模式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【盈利模式】</a:t>
            </a:r>
          </a:p>
          <a:p>
            <a:pPr>
              <a:spcAft>
                <a:spcPts val="1000"/>
              </a:spcAft>
              <a:defRPr sz="2000"/>
            </a:pPr>
            <a:r>
              <a:t>• SaaS订阅：年费5000-30000元（按功能模块）</a:t>
            </a:r>
          </a:p>
          <a:p>
            <a:pPr>
              <a:spcAft>
                <a:spcPts val="1000"/>
              </a:spcAft>
              <a:defRPr sz="2000"/>
            </a:pPr>
            <a:r>
              <a:t>• 增值服务：私有化部署、定制开发、运营陪跑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【定价策略】</a:t>
            </a:r>
          </a:p>
          <a:p>
            <a:pPr>
              <a:spcAft>
                <a:spcPts val="1000"/>
              </a:spcAft>
              <a:defRPr sz="2000"/>
            </a:pPr>
            <a:r>
              <a:t>• 基础版：5000元/年（50用户，基础功能）</a:t>
            </a:r>
          </a:p>
          <a:p>
            <a:pPr>
              <a:spcAft>
                <a:spcPts val="1000"/>
              </a:spcAft>
              <a:defRPr sz="2000"/>
            </a:pPr>
            <a:r>
              <a:t>• 专业版：15000元/年（不限用户，完整功能）</a:t>
            </a:r>
          </a:p>
          <a:p>
            <a:pPr>
              <a:spcAft>
                <a:spcPts val="1000"/>
              </a:spcAft>
              <a:defRPr sz="2000"/>
            </a:pPr>
            <a:r>
              <a:t>• 企业版：30000元/年（私有化+专属服务）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【目标数据】</a:t>
            </a:r>
          </a:p>
          <a:p>
            <a:pPr>
              <a:spcAft>
                <a:spcPts val="1000"/>
              </a:spcAft>
              <a:defRPr sz="2000"/>
            </a:pPr>
            <a:r>
              <a:t>• 首批客户：10-20家（3个月内）</a:t>
            </a:r>
          </a:p>
          <a:p>
            <a:pPr>
              <a:spcAft>
                <a:spcPts val="1000"/>
              </a:spcAft>
              <a:defRPr sz="2000"/>
            </a:pPr>
            <a:r>
              <a:t>• 年客户增长：100%+</a:t>
            </a:r>
          </a:p>
          <a:p>
            <a:pPr>
              <a:spcAft>
                <a:spcPts val="1000"/>
              </a:spcAft>
              <a:defRPr sz="2000"/>
            </a:pPr>
            <a:r>
              <a:t>• 续费率：80%+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十三、风险分析与对策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【技术风险】</a:t>
            </a:r>
          </a:p>
          <a:p>
            <a:pPr>
              <a:spcAft>
                <a:spcPts val="1000"/>
              </a:spcAft>
              <a:defRPr sz="2000"/>
            </a:pPr>
            <a:r>
              <a:t>• 风险：高并发、数据安全、系统稳定性</a:t>
            </a:r>
          </a:p>
          <a:p>
            <a:pPr>
              <a:spcAft>
                <a:spcPts val="1000"/>
              </a:spcAft>
              <a:defRPr sz="2000"/>
            </a:pPr>
            <a:r>
              <a:t>• 对策：微服务架构、监控告警、定期演练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【市场风险】</a:t>
            </a:r>
          </a:p>
          <a:p>
            <a:pPr>
              <a:spcAft>
                <a:spcPts val="1000"/>
              </a:spcAft>
              <a:defRPr sz="2000"/>
            </a:pPr>
            <a:r>
              <a:t>• 风险：获客难、转化低、竞争激烈</a:t>
            </a:r>
          </a:p>
          <a:p>
            <a:pPr>
              <a:spcAft>
                <a:spcPts val="1000"/>
              </a:spcAft>
              <a:defRPr sz="2000"/>
            </a:pPr>
            <a:r>
              <a:t>• 对策：精准定位、差异化竞争、口碑传播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【运营风险】</a:t>
            </a:r>
          </a:p>
          <a:p>
            <a:pPr>
              <a:spcAft>
                <a:spcPts val="1000"/>
              </a:spcAft>
              <a:defRPr sz="2000"/>
            </a:pPr>
            <a:r>
              <a:t>• 风险：客户成功难、续费率低</a:t>
            </a:r>
          </a:p>
          <a:p>
            <a:pPr>
              <a:spcAft>
                <a:spcPts val="1000"/>
              </a:spcAft>
              <a:defRPr sz="2000"/>
            </a:pPr>
            <a:r>
              <a:t>• 对策：完善培训、专属客服、定期回访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【产品风险】</a:t>
            </a:r>
          </a:p>
          <a:p>
            <a:pPr>
              <a:spcAft>
                <a:spcPts val="1000"/>
              </a:spcAft>
              <a:defRPr sz="2000"/>
            </a:pPr>
            <a:r>
              <a:t>• 风险：功能堆砌、体验差、不聚焦</a:t>
            </a:r>
          </a:p>
          <a:p>
            <a:pPr>
              <a:spcAft>
                <a:spcPts val="1000"/>
              </a:spcAft>
              <a:defRPr sz="2000"/>
            </a:pPr>
            <a:r>
              <a:t>• 对策：MVP验证、用户反馈驱动迭代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十四、成功的衡量指标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【产品指标】</a:t>
            </a:r>
          </a:p>
          <a:p>
            <a:pPr>
              <a:spcAft>
                <a:spcPts val="1000"/>
              </a:spcAft>
              <a:defRPr sz="2000"/>
            </a:pPr>
            <a:r>
              <a:t>• 日活用户：DAU &gt; 500（稳定后）</a:t>
            </a:r>
          </a:p>
          <a:p>
            <a:pPr>
              <a:spcAft>
                <a:spcPts val="1000"/>
              </a:spcAft>
              <a:defRPr sz="2000"/>
            </a:pPr>
            <a:r>
              <a:t>• 功能使用率：核心功能使用率 &gt; 70%</a:t>
            </a:r>
          </a:p>
          <a:p>
            <a:pPr>
              <a:spcAft>
                <a:spcPts val="1000"/>
              </a:spcAft>
              <a:defRPr sz="2000"/>
            </a:pPr>
            <a:r>
              <a:t>• 用户满意度：NPS &gt; 40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【业务指标】</a:t>
            </a:r>
          </a:p>
          <a:p>
            <a:pPr>
              <a:spcAft>
                <a:spcPts val="1000"/>
              </a:spcAft>
              <a:defRPr sz="2000"/>
            </a:pPr>
            <a:r>
              <a:t>• 获客成本：下降50%+</a:t>
            </a:r>
          </a:p>
          <a:p>
            <a:pPr>
              <a:spcAft>
                <a:spcPts val="1000"/>
              </a:spcAft>
              <a:defRPr sz="2000"/>
            </a:pPr>
            <a:r>
              <a:t>• 转化周期：缩短30%+</a:t>
            </a:r>
          </a:p>
          <a:p>
            <a:pPr>
              <a:spcAft>
                <a:spcPts val="1000"/>
              </a:spcAft>
              <a:defRPr sz="2000"/>
            </a:pPr>
            <a:r>
              <a:t>• 续费率：提升20%+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【商业指标】</a:t>
            </a:r>
          </a:p>
          <a:p>
            <a:pPr>
              <a:spcAft>
                <a:spcPts val="1000"/>
              </a:spcAft>
              <a:defRPr sz="2000"/>
            </a:pPr>
            <a:r>
              <a:t>• 客户数量：年增长100%+</a:t>
            </a:r>
          </a:p>
          <a:p>
            <a:pPr>
              <a:spcAft>
                <a:spcPts val="1000"/>
              </a:spcAft>
              <a:defRPr sz="2000"/>
            </a:pPr>
            <a:r>
              <a:t>• 收入增长：年增长150%+</a:t>
            </a:r>
          </a:p>
          <a:p>
            <a:pPr>
              <a:spcAft>
                <a:spcPts val="1000"/>
              </a:spcAft>
              <a:defRPr sz="2000"/>
            </a:pPr>
            <a:r>
              <a:t>• 续费率：&gt; 80%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十五、下一步行动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【立即执行】</a:t>
            </a:r>
          </a:p>
          <a:p>
            <a:pPr>
              <a:spcAft>
                <a:spcPts val="1000"/>
              </a:spcAft>
              <a:defRPr sz="2000"/>
            </a:pPr>
            <a:r>
              <a:t>1. 产品团队内部评审，确认产品方向</a:t>
            </a:r>
          </a:p>
          <a:p>
            <a:pPr>
              <a:spcAft>
                <a:spcPts val="1000"/>
              </a:spcAft>
              <a:defRPr sz="2000"/>
            </a:pPr>
            <a:r>
              <a:t>2. 技术团队评估，确认技术方案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【2周内】</a:t>
            </a:r>
          </a:p>
          <a:p>
            <a:pPr>
              <a:spcAft>
                <a:spcPts val="1000"/>
              </a:spcAft>
              <a:defRPr sz="2000"/>
            </a:pPr>
            <a:r>
              <a:t>3. 完成详细PRD文档</a:t>
            </a:r>
          </a:p>
          <a:p>
            <a:pPr>
              <a:spcAft>
                <a:spcPts val="1000"/>
              </a:spcAft>
              <a:defRPr sz="2000"/>
            </a:pPr>
            <a:r>
              <a:t>4. 完成UI设计方案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【1个月内】</a:t>
            </a:r>
          </a:p>
          <a:p>
            <a:pPr>
              <a:spcAft>
                <a:spcPts val="1000"/>
              </a:spcAft>
              <a:defRPr sz="2000"/>
            </a:pPr>
            <a:r>
              <a:t>5. 启动MVP开发</a:t>
            </a:r>
          </a:p>
          <a:p>
            <a:pPr>
              <a:spcAft>
                <a:spcPts val="1000"/>
              </a:spcAft>
              <a:defRPr sz="2000"/>
            </a:pPr>
            <a:r>
              <a:t>6. 启动首批客户试用招募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【3个月内】</a:t>
            </a:r>
          </a:p>
          <a:p>
            <a:pPr>
              <a:spcAft>
                <a:spcPts val="1000"/>
              </a:spcAft>
              <a:defRPr sz="2000"/>
            </a:pPr>
            <a:r>
              <a:t>7. MVP上线并验证核心假设</a:t>
            </a:r>
          </a:p>
          <a:p>
            <a:pPr>
              <a:spcAft>
                <a:spcPts val="1000"/>
              </a:spcAft>
              <a:defRPr sz="2000"/>
            </a:pPr>
            <a:r>
              <a:t>8. 根据反馈迭代产品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十六、总结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【为什么现在做？】</a:t>
            </a:r>
          </a:p>
          <a:p>
            <a:pPr>
              <a:spcAft>
                <a:spcPts val="1000"/>
              </a:spcAft>
              <a:defRPr sz="2000"/>
            </a:pPr>
            <a:r>
              <a:t>• 市场空白：没有专门针对教育行业的SCRM</a:t>
            </a:r>
          </a:p>
          <a:p>
            <a:pPr>
              <a:spcAft>
                <a:spcPts val="1000"/>
              </a:spcAft>
              <a:defRPr sz="2000"/>
            </a:pPr>
            <a:r>
              <a:t>• 需求真实：招生难、服务难是行业痛点</a:t>
            </a:r>
          </a:p>
          <a:p>
            <a:pPr>
              <a:spcAft>
                <a:spcPts val="1000"/>
              </a:spcAft>
              <a:defRPr sz="2000"/>
            </a:pPr>
            <a:r>
              <a:t>• 时机成熟：企微生态完善、技术成熟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【为什么我们能做？】</a:t>
            </a:r>
          </a:p>
          <a:p>
            <a:pPr>
              <a:spcAft>
                <a:spcPts val="1000"/>
              </a:spcAft>
              <a:defRPr sz="2000"/>
            </a:pPr>
            <a:r>
              <a:t>• 团队基因：懂教育、懂运营、懂技术</a:t>
            </a:r>
          </a:p>
          <a:p>
            <a:pPr>
              <a:spcAft>
                <a:spcPts val="1000"/>
              </a:spcAft>
              <a:defRPr sz="2000"/>
            </a:pPr>
            <a:r>
              <a:t>• 差异化：不是做功能，而是做解决方案</a:t>
            </a:r>
          </a:p>
          <a:p>
            <a:pPr>
              <a:spcAft>
                <a:spcPts val="1000"/>
              </a:spcAft>
              <a:defRPr sz="2000"/>
            </a:pPr>
            <a:r>
              <a:t>• 小步快跑：MVP验证，降低风险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【核心建议】</a:t>
            </a:r>
          </a:p>
          <a:p>
            <a:pPr>
              <a:spcAft>
                <a:spcPts val="1000"/>
              </a:spcAft>
              <a:defRPr sz="2000"/>
            </a:pPr>
            <a:r>
              <a:t>• 先做MVP验证，再大规模投入</a:t>
            </a:r>
          </a:p>
          <a:p>
            <a:pPr>
              <a:spcAft>
                <a:spcPts val="1000"/>
              </a:spcAft>
              <a:defRPr sz="2000"/>
            </a:pPr>
            <a:r>
              <a:t>• 聚焦核心价值，不贪大求全</a:t>
            </a:r>
          </a:p>
          <a:p>
            <a:pPr>
              <a:spcAft>
                <a:spcPts val="1000"/>
              </a:spcAft>
              <a:defRPr sz="2000"/>
            </a:pPr>
            <a:r>
              <a:t>• 用户驱动，快速迭代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教育行业SCRM可行性方案 | 产品专家小皮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