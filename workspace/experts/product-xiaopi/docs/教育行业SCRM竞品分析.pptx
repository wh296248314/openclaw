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教育行业SCRM竞品分析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产品专家小皮 | 2026-03-23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核心结论：市面上没有专门针对K12+全日制教育机构的SCRM产品</a:t>
            </a:r>
          </a:p>
          <a:p>
            <a:pPr>
              <a:spcAft>
                <a:spcPts val="800"/>
              </a:spcAft>
              <a:defRPr sz="2000"/>
            </a:pPr>
            <a:r>
              <a:t>• 市场空白：营销+销售+服务+教务一体化是教育行业真正需要的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三款产品定位：</a:t>
            </a:r>
          </a:p>
          <a:p>
            <a:pPr>
              <a:spcAft>
                <a:spcPts val="800"/>
              </a:spcAft>
              <a:defRPr sz="2000"/>
            </a:pPr>
            <a:r>
              <a:t>•   尘锋SCRM → 中大型企业，功能全但教育深度不足</a:t>
            </a:r>
          </a:p>
          <a:p>
            <a:pPr>
              <a:spcAft>
                <a:spcPts val="800"/>
              </a:spcAft>
              <a:defRPr sz="2000"/>
            </a:pPr>
            <a:r>
              <a:t>•   微盛SCRM → 中小企业，裂变强但缺教务管理</a:t>
            </a:r>
          </a:p>
          <a:p>
            <a:pPr>
              <a:spcAft>
                <a:spcPts val="800"/>
              </a:spcAft>
              <a:defRPr sz="2000"/>
            </a:pPr>
            <a:r>
              <a:t>•   探马SCRM → B2B销售，不适合教育行业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二、竞品功能对比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功能项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尘锋SCRM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微盛SCRM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探马SCRM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客户定位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中大型企业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中小企业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B2B销售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营销获客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★★☆☆☆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销售跟进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企微集成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★★★★☆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数据分析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★★★★☆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教务管理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教育适配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★★☆☆☆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★☆☆☆☆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3-50万/年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3千-3万/年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2-10万/年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三、营销获客能力对比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尘锋SCRM（★★★★★）：</a:t>
            </a:r>
          </a:p>
          <a:p>
            <a:pPr>
              <a:spcAft>
                <a:spcPts val="800"/>
              </a:spcAft>
              <a:defRPr sz="2000"/>
            </a:pPr>
            <a:r>
              <a:t>•   活码、裂变海报、抽奖活动、优惠券</a:t>
            </a:r>
          </a:p>
          <a:p>
            <a:pPr>
              <a:spcAft>
                <a:spcPts val="800"/>
              </a:spcAft>
              <a:defRPr sz="2000"/>
            </a:pPr>
            <a:r>
              <a:t>•   功能最全面，适合大规模营销活动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微盛SCRM（★★★★☆）：</a:t>
            </a:r>
          </a:p>
          <a:p>
            <a:pPr>
              <a:spcAft>
                <a:spcPts val="800"/>
              </a:spcAft>
              <a:defRPr sz="2000"/>
            </a:pPr>
            <a:r>
              <a:t>•   群裂变、任务宝、红包裂变</a:t>
            </a:r>
          </a:p>
          <a:p>
            <a:pPr>
              <a:spcAft>
                <a:spcPts val="800"/>
              </a:spcAft>
              <a:defRPr sz="2000"/>
            </a:pPr>
            <a:r>
              <a:t>•   裂变模板最丰富，操作最简单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探马SCRM（★★☆☆☆）：</a:t>
            </a:r>
          </a:p>
          <a:p>
            <a:pPr>
              <a:spcAft>
                <a:spcPts val="800"/>
              </a:spcAft>
              <a:defRPr sz="2000"/>
            </a:pPr>
            <a:r>
              <a:t>•   几乎无营销功能，专注销售过程管理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四、销售管理能力对比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尘锋SCRM（★★★☆☆）：基础跟进功能，SOP自动化</a:t>
            </a:r>
          </a:p>
          <a:p>
            <a:pPr>
              <a:spcAft>
                <a:spcPts val="800"/>
              </a:spcAft>
              <a:defRPr sz="2000"/>
            </a:pPr>
            <a:r>
              <a:t>• 微盛SCRM（★★★☆☆）：基础跟进功能，客户分层运营</a:t>
            </a:r>
          </a:p>
          <a:p>
            <a:pPr>
              <a:spcAft>
                <a:spcPts val="800"/>
              </a:spcAft>
              <a:defRPr sz="2000"/>
            </a:pPr>
            <a:r>
              <a:t>• 探马SCRM（★★★★★）：</a:t>
            </a:r>
          </a:p>
          <a:p>
            <a:pPr>
              <a:spcAft>
                <a:spcPts val="800"/>
              </a:spcAft>
              <a:defRPr sz="2000"/>
            </a:pPr>
            <a:r>
              <a:t>•   线索管理、商机管理、合同管理</a:t>
            </a:r>
          </a:p>
          <a:p>
            <a:pPr>
              <a:spcAft>
                <a:spcPts val="800"/>
              </a:spcAft>
              <a:defRPr sz="2000"/>
            </a:pPr>
            <a:r>
              <a:t>•   外勤拜访、签到定位、通话管理</a:t>
            </a:r>
          </a:p>
          <a:p>
            <a:pPr>
              <a:spcAft>
                <a:spcPts val="800"/>
              </a:spcAft>
              <a:defRPr sz="2000"/>
            </a:pPr>
            <a:r>
              <a:t>•   销售管控能力最强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五、教育行业专项分析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报读流程最佳实践：</a:t>
            </a:r>
          </a:p>
          <a:p>
            <a:pPr>
              <a:spcAft>
                <a:spcPts val="800"/>
              </a:spcAft>
              <a:defRPr sz="2000"/>
            </a:pPr>
            <a:r>
              <a:t>•   高途 → 直接结算，最简洁 ⭐</a:t>
            </a:r>
          </a:p>
          <a:p>
            <a:pPr>
              <a:spcAft>
                <a:spcPts val="800"/>
              </a:spcAft>
              <a:defRPr sz="2000"/>
            </a:pPr>
            <a:r>
              <a:t>•   学而思 → 需诊断后报名（合理）</a:t>
            </a:r>
          </a:p>
          <a:p>
            <a:pPr>
              <a:spcAft>
                <a:spcPts val="800"/>
              </a:spcAft>
              <a:defRPr sz="2000"/>
            </a:pPr>
            <a:r>
              <a:t>•   新东方 → 只能咨询，无法直接报读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优惠策略最佳实践：</a:t>
            </a:r>
          </a:p>
          <a:p>
            <a:pPr>
              <a:spcAft>
                <a:spcPts val="800"/>
              </a:spcAft>
              <a:defRPr sz="2000"/>
            </a:pPr>
            <a:r>
              <a:t>•   老带新 + 拼团是主流</a:t>
            </a:r>
          </a:p>
          <a:p>
            <a:pPr>
              <a:spcAft>
                <a:spcPts val="800"/>
              </a:spcAft>
              <a:defRPr sz="2000"/>
            </a:pPr>
            <a:r>
              <a:t>•   顾问联动是关键节点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六、家校服务最佳实践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成长档案：学而思/高途有课后反馈和成长记录 ⭐</a:t>
            </a:r>
          </a:p>
          <a:p>
            <a:pPr>
              <a:spcAft>
                <a:spcPts val="800"/>
              </a:spcAft>
              <a:defRPr sz="2000"/>
            </a:pPr>
            <a:r>
              <a:t>• 校区查询：蓝天可直接引流顾问企微 ⭐ 最优</a:t>
            </a:r>
          </a:p>
          <a:p>
            <a:pPr>
              <a:spcAft>
                <a:spcPts val="800"/>
              </a:spcAft>
              <a:defRPr sz="2000"/>
            </a:pPr>
            <a:r>
              <a:t>• 调课退费：新东方/学而思支持线上操作</a:t>
            </a:r>
          </a:p>
          <a:p>
            <a:pPr>
              <a:spcAft>
                <a:spcPts val="800"/>
              </a:spcAft>
              <a:defRPr sz="2000"/>
            </a:pPr>
            <a:r>
              <a:t>• 顾问联动：高途/学而思在关键节点自动分配顾问 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七、自建SCRM核心功能模块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营销获客：活码 | 裂变 | 优惠券 | 体验课</a:t>
            </a:r>
          </a:p>
          <a:p>
            <a:pPr>
              <a:spcAft>
                <a:spcPts val="800"/>
              </a:spcAft>
              <a:defRPr sz="2000"/>
            </a:pPr>
            <a:r>
              <a:t>• 客户管理：线索池 | 标签 | 画像 | 生命周期</a:t>
            </a:r>
          </a:p>
          <a:p>
            <a:pPr>
              <a:spcAft>
                <a:spcPts val="800"/>
              </a:spcAft>
              <a:defRPr sz="2000"/>
            </a:pPr>
            <a:r>
              <a:t>• 销售跟进：跟进记录 | 商机 | 漏斗 | SOP</a:t>
            </a:r>
          </a:p>
          <a:p>
            <a:pPr>
              <a:spcAft>
                <a:spcPts val="800"/>
              </a:spcAft>
              <a:defRPr sz="2000"/>
            </a:pPr>
            <a:r>
              <a:t>• 服务运营：反馈 | 档案 | 续费 | 积分</a:t>
            </a:r>
          </a:p>
          <a:p>
            <a:pPr>
              <a:spcAft>
                <a:spcPts val="800"/>
              </a:spcAft>
              <a:defRPr sz="2000"/>
            </a:pPr>
            <a:r>
              <a:t>• 教务管理：排课 | 签到 | 考勤 | 成绩</a:t>
            </a:r>
          </a:p>
          <a:p>
            <a:pPr>
              <a:spcAft>
                <a:spcPts val="800"/>
              </a:spcAft>
              <a:defRPr sz="2000"/>
            </a:pPr>
            <a:r>
              <a:t>• 数据分析：流量 | 转化 | 留存 | ROI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八、核心竞争力构建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1. 教育行业深度理解</a:t>
            </a:r>
          </a:p>
          <a:p>
            <a:pPr>
              <a:spcAft>
                <a:spcPts val="800"/>
              </a:spcAft>
              <a:defRPr sz="2000"/>
            </a:pPr>
            <a:r>
              <a:t>•     家校连接 + 服务闭环 + 季节性运营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2. 数据智能</a:t>
            </a:r>
          </a:p>
          <a:p>
            <a:pPr>
              <a:spcAft>
                <a:spcPts val="800"/>
              </a:spcAft>
              <a:defRPr sz="2000"/>
            </a:pPr>
            <a:r>
              <a:t>•     智能标签 + 智能推荐 + 流失预警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3. 生态连接</a:t>
            </a:r>
          </a:p>
          <a:p>
            <a:pPr>
              <a:spcAft>
                <a:spcPts val="800"/>
              </a:spcAft>
              <a:defRPr sz="2000"/>
            </a:pPr>
            <a:r>
              <a:t>•     企微接入 + 家校互通 + 第三方集成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九、技术架构目标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性能目标：支持10亿级数据 | 百万级并发 | 秒级响应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架构设计：</a:t>
            </a:r>
          </a:p>
          <a:p>
            <a:pPr>
              <a:spcAft>
                <a:spcPts val="800"/>
              </a:spcAft>
              <a:defRPr sz="2000"/>
            </a:pPr>
            <a:r>
              <a:t>•   前端：React/Vue + H5/小程序</a:t>
            </a:r>
          </a:p>
          <a:p>
            <a:pPr>
              <a:spcAft>
                <a:spcPts val="800"/>
              </a:spcAft>
              <a:defRPr sz="2000"/>
            </a:pPr>
            <a:r>
              <a:t>•   后端：Node.js/Go + 微服务</a:t>
            </a:r>
          </a:p>
          <a:p>
            <a:pPr>
              <a:spcAft>
                <a:spcPts val="800"/>
              </a:spcAft>
              <a:defRPr sz="2000"/>
            </a:pPr>
            <a:r>
              <a:t>•   数据库：MySQL + Redis + ClickHouse</a:t>
            </a:r>
          </a:p>
          <a:p>
            <a:pPr>
              <a:spcAft>
                <a:spcPts val="800"/>
              </a:spcAft>
              <a:defRPr sz="2000"/>
            </a:pPr>
            <a:r>
              <a:t>•   部署：云原生 + 私有化支持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十、下一步行动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1. 安排竞品体验日</a:t>
            </a:r>
          </a:p>
          <a:p>
            <a:pPr>
              <a:spcAft>
                <a:spcPts val="800"/>
              </a:spcAft>
              <a:defRPr sz="2000"/>
            </a:pPr>
            <a:r>
              <a:t>•     集中试用尘锋、微盛、探马并截图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2. 明确核心需求</a:t>
            </a:r>
          </a:p>
          <a:p>
            <a:pPr>
              <a:spcAft>
                <a:spcPts val="800"/>
              </a:spcAft>
              <a:defRPr sz="2000"/>
            </a:pPr>
            <a:r>
              <a:t>•     是招生为主还是服务为主？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3. 盘点现有系统</a:t>
            </a:r>
          </a:p>
          <a:p>
            <a:pPr>
              <a:spcAft>
                <a:spcPts val="800"/>
              </a:spcAft>
              <a:defRPr sz="2000"/>
            </a:pPr>
            <a:r>
              <a:t>•     已有功能 vs 需要新建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4. 优先试点</a:t>
            </a:r>
          </a:p>
          <a:p>
            <a:pPr>
              <a:spcAft>
                <a:spcPts val="800"/>
              </a:spcAft>
              <a:defRPr sz="2000"/>
            </a:pPr>
            <a:r>
              <a:t>•     选择1-2个痛点场景做MVP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教育行业SCRM竞品分析 | 2026-03-23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